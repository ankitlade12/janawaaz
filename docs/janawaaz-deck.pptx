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96C0B"/>
                </a:solidFill>
                <a:latin typeface="Avenir Next"/>
              </a:defRPr>
            </a:pPr>
            <a:r>
              <a:t>HACKHAZARDS '26 · Render Workflows · Sarvam AI · Public Systems &amp; Civic 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1153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91713"/>
                </a:solidFill>
                <a:latin typeface="Georgia"/>
              </a:defRPr>
            </a:pPr>
            <a:r>
              <a:t>JanAwaaz  जन आवाज़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565048"/>
                </a:solidFill>
                <a:latin typeface="Georgia"/>
              </a:defRPr>
            </a:pPr>
            <a:r>
              <a:t>The agent that tells you when your government is asking —</a:t>
            </a:r>
          </a:p>
          <a:p>
            <a:pPr>
              <a:defRPr sz="2200">
                <a:solidFill>
                  <a:srgbClr val="565048"/>
                </a:solidFill>
                <a:latin typeface="Georgia"/>
              </a:defRPr>
            </a:pPr>
            <a:r>
              <a:t>with proof, in your language, before the window closes.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65048"/>
                </a:solidFill>
              </a:defRPr>
            </a:pPr>
            <a:r>
              <a:t>janawaaz-web.onrender.com · github.com/ankitlade12/janawaaz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3413674" cy="109728"/>
          </a:xfrm>
          <a:prstGeom prst="rect">
            <a:avLst/>
          </a:prstGeom>
          <a:solidFill>
            <a:srgbClr val="D96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96C0B"/>
                </a:solidFill>
                <a:latin typeface="Avenir Next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1153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91713"/>
                </a:solidFill>
                <a:latin typeface="Georgia"/>
              </a:defRPr>
            </a:pPr>
            <a:r>
              <a:t>Rules that change your life open for comment — and close before you hear about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191713"/>
                </a:solidFill>
                <a:latin typeface="Avenir Next"/>
              </a:defRPr>
            </a:pPr>
            <a:r>
              <a:t>—  India's 2014 pre-legislative policy mandates 30-day comment windows; TRAI, SEBI, RBI run continuous streams</a:t>
            </a:r>
          </a:p>
          <a:p>
            <a:pPr>
              <a:spcAft>
                <a:spcPts val="1400"/>
              </a:spcAft>
              <a:defRPr sz="1900">
                <a:solidFill>
                  <a:srgbClr val="191713"/>
                </a:solidFill>
                <a:latin typeface="Avenir Next"/>
              </a:defRPr>
            </a:pPr>
            <a:r>
              <a:t>—  2015 net neutrality: a 118-page paper, 27 official submissions — until a viral video and volunteers hand-translating it drove 1M emails</a:t>
            </a:r>
          </a:p>
          <a:p>
            <a:pPr>
              <a:spcAft>
                <a:spcPts val="1400"/>
              </a:spcAft>
              <a:defRPr sz="1900">
                <a:solidFill>
                  <a:srgbClr val="191713"/>
                </a:solidFill>
                <a:latin typeface="Avenir Next"/>
              </a:defRPr>
            </a:pPr>
            <a:r>
              <a:t>—  Most consultations never get a viral video. The comment boxes fill with lobbyists instead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65048"/>
                </a:solidFill>
              </a:defRPr>
            </a:pPr>
            <a:r>
              <a:t>JanAwaaz · 2/10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3413674" cy="109728"/>
          </a:xfrm>
          <a:prstGeom prst="rect">
            <a:avLst/>
          </a:prstGeom>
          <a:solidFill>
            <a:srgbClr val="D96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96C0B"/>
                </a:solidFill>
                <a:latin typeface="Avenir Next"/>
              </a:defRPr>
            </a:pPr>
            <a: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1153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91713"/>
                </a:solidFill>
                <a:latin typeface="Georgia"/>
              </a:defRPr>
            </a:pPr>
            <a:r>
              <a:t>A durable agent that watches, matches, verifies — then speaks your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191713"/>
                </a:solidFill>
                <a:latin typeface="Avenir Next"/>
              </a:defRPr>
            </a:pPr>
            <a:r>
              <a:t>—  Tell it who you are once, in one plain sentence</a:t>
            </a:r>
          </a:p>
          <a:p>
            <a:pPr>
              <a:spcAft>
                <a:spcPts val="1400"/>
              </a:spcAft>
              <a:defRPr sz="1900">
                <a:solidFill>
                  <a:srgbClr val="191713"/>
                </a:solidFill>
                <a:latin typeface="Avenir Next"/>
              </a:defRPr>
            </a:pPr>
            <a:r>
              <a:t>—  It sweeps every source daily, extracts deadlines with quoted evidence, matches semantically</a:t>
            </a:r>
          </a:p>
          <a:p>
            <a:pPr>
              <a:spcAft>
                <a:spcPts val="1400"/>
              </a:spcAft>
              <a:defRPr sz="1900">
                <a:solidFill>
                  <a:srgbClr val="191713"/>
                </a:solidFill>
                <a:latin typeface="Avenir Next"/>
              </a:defRPr>
            </a:pPr>
            <a:r>
              <a:t>—  Tier-1 verified matches push to Telegram in English / हिन्दी / मराठी — deadline, impact, where to comment</a:t>
            </a:r>
          </a:p>
          <a:p>
            <a:pPr>
              <a:spcAft>
                <a:spcPts val="1400"/>
              </a:spcAft>
              <a:defRPr sz="1900">
                <a:solidFill>
                  <a:srgbClr val="191713"/>
                </a:solidFill>
                <a:latin typeface="Avenir Next"/>
              </a:defRPr>
            </a:pPr>
            <a:r>
              <a:t>—  JanAwaaz automates what the 2015 volunteers did by hand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65048"/>
                </a:solidFill>
              </a:defRPr>
            </a:pPr>
            <a:r>
              <a:t>JanAwaaz · 3/10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3413674" cy="109728"/>
          </a:xfrm>
          <a:prstGeom prst="rect">
            <a:avLst/>
          </a:prstGeom>
          <a:solidFill>
            <a:srgbClr val="D96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96C0B"/>
                </a:solidFill>
                <a:latin typeface="Avenir Next"/>
              </a:defRPr>
            </a:pPr>
            <a:r>
              <a:t>THE GATE — OUR CORE NOVELTY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1153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91713"/>
                </a:solidFill>
                <a:latin typeface="Georgia"/>
              </a:defRPr>
            </a:pPr>
            <a:r>
              <a:t>If we can't prove the match, we don't wake you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191713"/>
                </a:solidFill>
                <a:latin typeface="Avenir Next"/>
              </a:defRPr>
            </a:pPr>
            <a:r>
              <a:t>—  Tier 1 = similarity + independent verifier 'yes' + verbatim span STRING-CHECKED against the document</a:t>
            </a:r>
          </a:p>
          <a:p>
            <a:pPr>
              <a:spcAft>
                <a:spcPts val="1400"/>
              </a:spcAft>
              <a:defRPr sz="1900">
                <a:solidFill>
                  <a:srgbClr val="191713"/>
                </a:solidFill>
                <a:latin typeface="Avenir Next"/>
              </a:defRPr>
            </a:pPr>
            <a:r>
              <a:t>—  Weak evidence → feed only. Rejected → ledger only. Every decision immutable and public</a:t>
            </a:r>
          </a:p>
          <a:p>
            <a:pPr>
              <a:spcAft>
                <a:spcPts val="1400"/>
              </a:spcAft>
              <a:defRPr sz="1900">
                <a:solidFill>
                  <a:srgbClr val="191713"/>
                </a:solidFill>
                <a:latin typeface="Avenir Next"/>
              </a:defRPr>
            </a:pPr>
            <a:r>
              <a:t>—  Live: farmer profile vs telecom paper — similarity passed, verifier killed it (/ledger/19)</a:t>
            </a:r>
          </a:p>
          <a:p>
            <a:pPr>
              <a:spcAft>
                <a:spcPts val="1400"/>
              </a:spcAft>
              <a:defRPr sz="1900">
                <a:solidFill>
                  <a:srgbClr val="191713"/>
                </a:solidFill>
                <a:latin typeface="Avenir Next"/>
              </a:defRPr>
            </a:pPr>
            <a:r>
              <a:t>—  Live: V2X founder — Tier 1 with quoted, verified evidence (/ledger/21)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65048"/>
                </a:solidFill>
              </a:defRPr>
            </a:pPr>
            <a:r>
              <a:t>JanAwaaz · 4/10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3413674" cy="109728"/>
          </a:xfrm>
          <a:prstGeom prst="rect">
            <a:avLst/>
          </a:prstGeom>
          <a:solidFill>
            <a:srgbClr val="D96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96C0B"/>
                </a:solidFill>
                <a:latin typeface="Avenir Next"/>
              </a:defRPr>
            </a:pPr>
            <a:r>
              <a:t>DEADLINE HONESTY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1153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91713"/>
                </a:solidFill>
                <a:latin typeface="Georgia"/>
              </a:defRPr>
            </a:pPr>
            <a:r>
              <a:t>A wrong deadline is worse than no alert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191713"/>
                </a:solidFill>
                <a:latin typeface="Avenir Next"/>
              </a:defRPr>
            </a:pPr>
            <a:r>
              <a:t>—  Regex-first extraction; every date carries a verbatim quoted span from the PDF</a:t>
            </a:r>
          </a:p>
          <a:p>
            <a:pPr>
              <a:spcAft>
                <a:spcPts val="1400"/>
              </a:spcAft>
              <a:defRPr sz="1900">
                <a:solidFill>
                  <a:srgbClr val="191713"/>
                </a:solidFill>
                <a:latin typeface="Avenir Next"/>
              </a:defRPr>
            </a:pPr>
            <a:r>
              <a:t>—  Historical-reference guard: papers cite years of older consultations — publication-date filter</a:t>
            </a:r>
          </a:p>
          <a:p>
            <a:pPr>
              <a:spcAft>
                <a:spcPts val="1400"/>
              </a:spcAft>
              <a:defRPr sz="1900">
                <a:solidFill>
                  <a:srgbClr val="191713"/>
                </a:solidFill>
                <a:latin typeface="Avenir Next"/>
              </a:defRPr>
            </a:pPr>
            <a:r>
              <a:t>—  Unverifiable → 'deadline unverified, check source'. Never a guess</a:t>
            </a:r>
          </a:p>
          <a:p>
            <a:pPr>
              <a:spcAft>
                <a:spcPts val="1400"/>
              </a:spcAft>
              <a:defRPr sz="1900">
                <a:solidFill>
                  <a:srgbClr val="191713"/>
                </a:solidFill>
                <a:latin typeface="Avenir Next"/>
              </a:defRPr>
            </a:pPr>
            <a:r>
              <a:t>—  95 of 100 seeded real documents extracted with span-verified deadlines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65048"/>
                </a:solidFill>
              </a:defRPr>
            </a:pPr>
            <a:r>
              <a:t>JanAwaaz · 5/10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3413674" cy="109728"/>
          </a:xfrm>
          <a:prstGeom prst="rect">
            <a:avLst/>
          </a:prstGeom>
          <a:solidFill>
            <a:srgbClr val="D96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96C0B"/>
                </a:solidFill>
                <a:latin typeface="Avenir Next"/>
              </a:defRPr>
            </a:pPr>
            <a:r>
              <a:t>ARCHITECTURE — RENDER WORKFLOWS IS THE SPINE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1153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91713"/>
                </a:solidFill>
                <a:latin typeface="Georgia"/>
              </a:defRPr>
            </a:pPr>
            <a:r>
              <a:t>sweep → fetch ×3 → parse → summarize+embed → match → gate → notify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191713"/>
                </a:solidFill>
                <a:latin typeface="Avenir Next"/>
              </a:defRPr>
            </a:pPr>
            <a:r>
              <a:t>—  Durable @app.task chain, per-task retries — flaky government sites become dashboard entries, not outages</a:t>
            </a:r>
          </a:p>
          <a:p>
            <a:pPr>
              <a:spcAft>
                <a:spcPts val="1400"/>
              </a:spcAft>
              <a:defRPr sz="1900">
                <a:solidFill>
                  <a:srgbClr val="191713"/>
                </a:solidFill>
                <a:latin typeface="Avenir Next"/>
              </a:defRPr>
            </a:pPr>
            <a:r>
              <a:t>—  Render Postgres + pgvector · FastAPI product UI on Render · GitHub Actions trigger</a:t>
            </a:r>
          </a:p>
          <a:p>
            <a:pPr>
              <a:spcAft>
                <a:spcPts val="1400"/>
              </a:spcAft>
              <a:defRPr sz="1900">
                <a:solidFill>
                  <a:srgbClr val="191713"/>
                </a:solidFill>
                <a:latin typeface="Avenir Next"/>
              </a:defRPr>
            </a:pPr>
            <a:r>
              <a:t>—  Adapter contract: adding a source is one file — TRAI, SEBI, RBI live today</a:t>
            </a:r>
          </a:p>
          <a:p>
            <a:pPr>
              <a:spcAft>
                <a:spcPts val="1400"/>
              </a:spcAft>
              <a:defRPr sz="1900">
                <a:solidFill>
                  <a:srgbClr val="191713"/>
                </a:solidFill>
                <a:latin typeface="Avenir Next"/>
              </a:defRPr>
            </a:pPr>
            <a:r>
              <a:t>—  Verified in production: run trn-08t4g… completed {sources: 3}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65048"/>
                </a:solidFill>
              </a:defRPr>
            </a:pPr>
            <a:r>
              <a:t>JanAwaaz · 6/10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3413674" cy="109728"/>
          </a:xfrm>
          <a:prstGeom prst="rect">
            <a:avLst/>
          </a:prstGeom>
          <a:solidFill>
            <a:srgbClr val="D96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96C0B"/>
                </a:solidFill>
                <a:latin typeface="Avenir Next"/>
              </a:defRPr>
            </a:pPr>
            <a:r>
              <a:t>VERNACULAR AT SCALE — SARVAM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1153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91713"/>
                </a:solidFill>
                <a:latin typeface="Georgia"/>
              </a:defRPr>
            </a:pPr>
            <a:r>
              <a:t>Civis translates by hand, for a few drafts, days later. The agent does all of them, in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191713"/>
                </a:solidFill>
                <a:latin typeface="Avenir Next"/>
              </a:defRPr>
            </a:pPr>
            <a:r>
              <a:t>—  Every alert machine-translated at send time (Mayura)</a:t>
            </a:r>
          </a:p>
          <a:p>
            <a:pPr>
              <a:spcAft>
                <a:spcPts val="1400"/>
              </a:spcAft>
              <a:defRPr sz="1900">
                <a:solidFill>
                  <a:srgbClr val="191713"/>
                </a:solidFill>
                <a:latin typeface="Avenir Next"/>
              </a:defRPr>
            </a:pPr>
            <a:r>
              <a:t>—  Voice alerts via Bulbul TTS → Telegram audio, for low-literacy users</a:t>
            </a:r>
          </a:p>
          <a:p>
            <a:pPr>
              <a:spcAft>
                <a:spcPts val="1400"/>
              </a:spcAft>
              <a:defRPr sz="1900">
                <a:solidFill>
                  <a:srgbClr val="191713"/>
                </a:solidFill>
                <a:latin typeface="Avenir Next"/>
              </a:defRPr>
            </a:pPr>
            <a:r>
              <a:t>—  Languages are a config line, not a fellowship cohort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65048"/>
                </a:solidFill>
              </a:defRPr>
            </a:pPr>
            <a:r>
              <a:t>JanAwaaz · 7/10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3413674" cy="109728"/>
          </a:xfrm>
          <a:prstGeom prst="rect">
            <a:avLst/>
          </a:prstGeom>
          <a:solidFill>
            <a:srgbClr val="D96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96C0B"/>
                </a:solidFill>
                <a:latin typeface="Avenir Next"/>
              </a:defRPr>
            </a:pPr>
            <a:r>
              <a:t>COMPETITIVE LANDSCAPE (RESEARCHED, 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1153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91713"/>
                </a:solidFill>
                <a:latin typeface="Georgia"/>
              </a:defRPr>
            </a:pPr>
            <a:r>
              <a:t>Nobody — at any price — shows why you got the alert, with cited spans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191713"/>
                </a:solidFill>
                <a:latin typeface="Avenir Next"/>
              </a:defRPr>
            </a:pPr>
            <a:r>
              <a:t>—  Civis proved demand — human-powered pipeline; OurGov/MyGov: portals you must visit</a:t>
            </a:r>
          </a:p>
          <a:p>
            <a:pPr>
              <a:spcAft>
                <a:spcPts val="1400"/>
              </a:spcAft>
              <a:defRPr sz="1900">
                <a:solidFill>
                  <a:srgbClr val="191713"/>
                </a:solidFill>
                <a:latin typeface="Avenir Next"/>
              </a:defRPr>
            </a:pPr>
            <a:r>
              <a:t>—  FiscalNote, Compliance.ai, Wolters Kluwer ('25): semantic matching is enterprise table stakes</a:t>
            </a:r>
          </a:p>
          <a:p>
            <a:pPr>
              <a:spcAft>
                <a:spcPts val="1400"/>
              </a:spcAft>
              <a:defRPr sz="1900">
                <a:solidFill>
                  <a:srgbClr val="191713"/>
                </a:solidFill>
                <a:latin typeface="Avenir Next"/>
              </a:defRPr>
            </a:pPr>
            <a:r>
              <a:t>—  None advertise cited-evidence verification for AI alerts — the gate is unclaimed territory</a:t>
            </a:r>
          </a:p>
          <a:p>
            <a:pPr>
              <a:spcAft>
                <a:spcPts val="1400"/>
              </a:spcAft>
              <a:defRPr sz="1900">
                <a:solidFill>
                  <a:srgbClr val="191713"/>
                </a:solidFill>
                <a:latin typeface="Avenir Next"/>
              </a:defRPr>
            </a:pPr>
            <a:r>
              <a:t>—  FCC scandal: 18M of 22M comments fake → authenticity-by-evidence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65048"/>
                </a:solidFill>
              </a:defRPr>
            </a:pPr>
            <a:r>
              <a:t>JanAwaaz · 8/10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3413674" cy="109728"/>
          </a:xfrm>
          <a:prstGeom prst="rect">
            <a:avLst/>
          </a:prstGeom>
          <a:solidFill>
            <a:srgbClr val="D96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96C0B"/>
                </a:solidFill>
                <a:latin typeface="Avenir Next"/>
              </a:defRPr>
            </a:pPr>
            <a:r>
              <a:t>HONEST LIMITATIONS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1153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91713"/>
                </a:solidFill>
                <a:latin typeface="Georgia"/>
              </a:defRPr>
            </a:pPr>
            <a:r>
              <a:t>Three sources today; three documented no-gos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191713"/>
                </a:solidFill>
                <a:latin typeface="Avenir Next"/>
              </a:defRPr>
            </a:pPr>
            <a:r>
              <a:t>—  MCA bot-walled; MyGov listing undiscoverable; RBI solved via RSS — all logged in the repo</a:t>
            </a:r>
          </a:p>
          <a:p>
            <a:pPr>
              <a:spcAft>
                <a:spcPts val="1400"/>
              </a:spcAft>
              <a:defRPr sz="1900">
                <a:solidFill>
                  <a:srgbClr val="191713"/>
                </a:solidFill>
                <a:latin typeface="Avenir Next"/>
              </a:defRPr>
            </a:pPr>
            <a:r>
              <a:t>—  Roadmap: MeitY + state governments, costed WhatsApp channel, missed-call IVR (Mobile Vaani pattern)</a:t>
            </a:r>
          </a:p>
          <a:p>
            <a:pPr>
              <a:spcAft>
                <a:spcPts val="1400"/>
              </a:spcAft>
              <a:defRPr sz="1900">
                <a:solidFill>
                  <a:srgbClr val="191713"/>
                </a:solidFill>
                <a:latin typeface="Avenir Next"/>
              </a:defRPr>
            </a:pPr>
            <a:r>
              <a:t>—  Consent-first comment drafting — never automated submission</a:t>
            </a:r>
          </a:p>
          <a:p>
            <a:pPr>
              <a:spcAft>
                <a:spcPts val="1400"/>
              </a:spcAft>
              <a:defRPr sz="1900">
                <a:solidFill>
                  <a:srgbClr val="191713"/>
                </a:solidFill>
                <a:latin typeface="Avenir Next"/>
              </a:defRPr>
            </a:pPr>
            <a:r>
              <a:t>—  Civis-style partners on top of the ledger as an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65048"/>
                </a:solidFill>
              </a:defRPr>
            </a:pPr>
            <a:r>
              <a:t>JanAwaaz · 9/10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3413674" cy="109728"/>
          </a:xfrm>
          <a:prstGeom prst="rect">
            <a:avLst/>
          </a:prstGeom>
          <a:solidFill>
            <a:srgbClr val="D96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96C0B"/>
                </a:solidFill>
                <a:latin typeface="Avenir Next"/>
              </a:defRPr>
            </a:pPr>
            <a: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1153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91713"/>
                </a:solidFill>
                <a:latin typeface="Georgia"/>
              </a:defRPr>
            </a:pPr>
            <a:r>
              <a:t>It ran while we slept. That's the point.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191713"/>
                </a:solidFill>
                <a:latin typeface="Avenir Next"/>
              </a:defRPr>
            </a:pPr>
            <a:r>
              <a:t>—  Live: janawaaz-web.onrender.com</a:t>
            </a:r>
          </a:p>
          <a:p>
            <a:pPr>
              <a:spcAft>
                <a:spcPts val="1400"/>
              </a:spcAft>
              <a:defRPr sz="1900">
                <a:solidFill>
                  <a:srgbClr val="191713"/>
                </a:solidFill>
                <a:latin typeface="Avenir Next"/>
              </a:defRPr>
            </a:pPr>
            <a:r>
              <a:t>—  Code (MIT): github.com/ankitlade12/janawaaz</a:t>
            </a:r>
          </a:p>
          <a:p>
            <a:pPr>
              <a:spcAft>
                <a:spcPts val="1400"/>
              </a:spcAft>
              <a:defRPr sz="1900">
                <a:solidFill>
                  <a:srgbClr val="191713"/>
                </a:solidFill>
                <a:latin typeface="Avenir Next"/>
              </a:defRPr>
            </a:pPr>
            <a:r>
              <a:t>—  The ledger is public — check our work: /ledger/21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65048"/>
                </a:solidFill>
              </a:defRPr>
            </a:pPr>
            <a:r>
              <a:t>JanAwaaz · जन आवाज़ · HACKHAZARDS '26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3413674" cy="109728"/>
          </a:xfrm>
          <a:prstGeom prst="rect">
            <a:avLst/>
          </a:prstGeom>
          <a:solidFill>
            <a:srgbClr val="D96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